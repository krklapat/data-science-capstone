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3393D9-83B3-4002-A4B7-91534B6E77FC}">
  <a:tblStyle styleId="{933393D9-83B3-4002-A4B7-91534B6E77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f81900f313438e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f81900f313438e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34c8494fa080c4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h234c8494fa080c4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2f81900f313438e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2f81900f313438e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an idea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ed15f7316427a5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ed15f7316427a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63314ae0a0e92a4d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63314ae0a0e92a4d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hed15f7316427a5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hed15f7316427a5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h793402e787cee4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h793402e787cee4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e170e9d46b0b41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e170e9d46b0b41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7224683bf9ca81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7224683bf9ca81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ed15f7316427a5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ed15f7316427a5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3c96ef81d28699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3c96ef81d28699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2f81900f313438e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2f81900f313438e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234c8494fa080c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234c8494fa080c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2f81900f313438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h2f81900f313438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2f81900f313438e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2f81900f313438e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525100" y="159825"/>
            <a:ext cx="66189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Battery Optimization Mid-Semester Check-In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4162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By Group 1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five minutes, p</a:t>
            </a:r>
            <a:r>
              <a:rPr lang="en"/>
              <a:t>redicting</a:t>
            </a:r>
            <a:r>
              <a:rPr lang="en"/>
              <a:t> a real time price schedule for the next 24 hours.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Predicting the real </a:t>
            </a:r>
            <a:r>
              <a:rPr lang="en"/>
              <a:t>time</a:t>
            </a:r>
            <a:r>
              <a:rPr lang="en"/>
              <a:t> price to optimize buying and selling energy.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Historical prices, </a:t>
            </a:r>
            <a:r>
              <a:rPr lang="en"/>
              <a:t>forecasts, outages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Data source: Grid Statues - MISO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981" y="154000"/>
            <a:ext cx="5755149" cy="4317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187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3046350" y="157225"/>
            <a:ext cx="3051300" cy="49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Historical Data Collection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400950" y="1089713"/>
            <a:ext cx="2342100" cy="49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Data </a:t>
            </a:r>
            <a:r>
              <a:rPr b="1" lang="en" sz="1800">
                <a:solidFill>
                  <a:schemeClr val="dk2"/>
                </a:solidFill>
              </a:rPr>
              <a:t>Preprocessing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549200" y="2103538"/>
            <a:ext cx="6045600" cy="42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Standard Models: </a:t>
            </a:r>
            <a:r>
              <a:rPr lang="en" sz="1800">
                <a:solidFill>
                  <a:schemeClr val="dk2"/>
                </a:solidFill>
              </a:rPr>
              <a:t>Price Prediction Schedule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810350" y="4009750"/>
            <a:ext cx="5523300" cy="788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Reinforcement</a:t>
            </a:r>
            <a:r>
              <a:rPr b="1" lang="en" sz="1800">
                <a:solidFill>
                  <a:schemeClr val="dk2"/>
                </a:solidFill>
              </a:rPr>
              <a:t> Learning/Linear Programming: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Optimizing Buying and Selling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559200" y="587225"/>
            <a:ext cx="20256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Prices, </a:t>
            </a:r>
            <a:r>
              <a:rPr lang="en" sz="1200">
                <a:solidFill>
                  <a:schemeClr val="dk2"/>
                </a:solidFill>
              </a:rPr>
              <a:t>Forecast</a:t>
            </a:r>
            <a:r>
              <a:rPr lang="en" sz="1200">
                <a:solidFill>
                  <a:schemeClr val="dk2"/>
                </a:solidFill>
              </a:rPr>
              <a:t>, outages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872350" y="1523500"/>
            <a:ext cx="33993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Cleaning, interval alignment, data</a:t>
            </a:r>
            <a:r>
              <a:rPr lang="en" sz="1200">
                <a:solidFill>
                  <a:schemeClr val="dk2"/>
                </a:solidFill>
              </a:rPr>
              <a:t> aggregation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17700" y="2459763"/>
            <a:ext cx="37086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Machine Learning models forecast real-time </a:t>
            </a:r>
            <a:r>
              <a:rPr lang="en" sz="1200">
                <a:solidFill>
                  <a:schemeClr val="dk2"/>
                </a:solidFill>
              </a:rPr>
              <a:t>prices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124050" y="4724350"/>
            <a:ext cx="27666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Exploring when to buy and sell energy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480150" y="3042650"/>
            <a:ext cx="2183700" cy="421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Model Evaluation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923150" y="3382175"/>
            <a:ext cx="52977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Find the best model to feed into the Buy/Sell optimization algorithms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84" name="Google Shape;84;p16"/>
          <p:cNvCxnSpPr>
            <a:stCxn id="83" idx="2"/>
            <a:endCxn id="77" idx="0"/>
          </p:cNvCxnSpPr>
          <p:nvPr/>
        </p:nvCxnSpPr>
        <p:spPr>
          <a:xfrm>
            <a:off x="4572000" y="3670475"/>
            <a:ext cx="0" cy="33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6"/>
          <p:cNvCxnSpPr>
            <a:stCxn id="78" idx="2"/>
            <a:endCxn id="75" idx="0"/>
          </p:cNvCxnSpPr>
          <p:nvPr/>
        </p:nvCxnSpPr>
        <p:spPr>
          <a:xfrm>
            <a:off x="4572000" y="875525"/>
            <a:ext cx="0" cy="2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6"/>
          <p:cNvCxnSpPr>
            <a:stCxn id="79" idx="2"/>
            <a:endCxn id="76" idx="0"/>
          </p:cNvCxnSpPr>
          <p:nvPr/>
        </p:nvCxnSpPr>
        <p:spPr>
          <a:xfrm>
            <a:off x="4572000" y="1811800"/>
            <a:ext cx="0" cy="29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6"/>
          <p:cNvCxnSpPr>
            <a:endCxn id="82" idx="0"/>
          </p:cNvCxnSpPr>
          <p:nvPr/>
        </p:nvCxnSpPr>
        <p:spPr>
          <a:xfrm>
            <a:off x="4572000" y="2748050"/>
            <a:ext cx="0" cy="29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Time Predictions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- Moving Average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380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Evaluated across various averaging windows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7 and 14 day Rolling Average performed the best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Target RMSE: $62.02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outliers removed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318350"/>
            <a:ext cx="4299874" cy="12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5125" y="2311475"/>
            <a:ext cx="5485976" cy="23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Testing</a:t>
            </a:r>
            <a:endParaRPr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52475"/>
            <a:ext cx="4089300" cy="32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Models evaluated</a:t>
            </a:r>
            <a:endParaRPr sz="17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Random Forest Regressor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XGBoost Regressor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Hist Gradient Boosting Regressor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Catboost Regressor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LGBM Regressor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Extra Trees Regressor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1000" y="214863"/>
            <a:ext cx="4682075" cy="215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1000" y="2571750"/>
            <a:ext cx="4682075" cy="21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25" y="216575"/>
            <a:ext cx="4335877" cy="1996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0392" y="215700"/>
            <a:ext cx="4332084" cy="1996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7280" y="2570275"/>
            <a:ext cx="4334496" cy="19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0946" y="2570275"/>
            <a:ext cx="4345980" cy="199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518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 Trees and LGBM performed the best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Still working with hyperparameters but these two seem to be the frontrunners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steps: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Implement forecast vectors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Continue to tweak hyperparameters</a:t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525" y="3340450"/>
            <a:ext cx="641032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33951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 Model</a:t>
            </a:r>
            <a:endParaRPr/>
          </a:p>
        </p:txBody>
      </p:sp>
      <p:sp>
        <p:nvSpPr>
          <p:cNvPr id="131" name="Google Shape;131;p22"/>
          <p:cNvSpPr txBox="1"/>
          <p:nvPr/>
        </p:nvSpPr>
        <p:spPr>
          <a:xfrm>
            <a:off x="695200" y="3240738"/>
            <a:ext cx="6764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Current Process: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Uses 288 time intervals for each prediction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Two Layer LSTM with 64 hidden units each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10% drop out for regularization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RMSE: $66.9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Next Steps: 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Schedule Output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Expanding Window Size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925" y="853075"/>
            <a:ext cx="3854374" cy="1876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350" y="912217"/>
            <a:ext cx="4599029" cy="23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2575" y="2960420"/>
            <a:ext cx="3735674" cy="1049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SARIMA X Model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152475"/>
            <a:ext cx="3724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Process: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Forecast </a:t>
            </a:r>
            <a:r>
              <a:rPr lang="en"/>
              <a:t>Horizon</a:t>
            </a:r>
            <a:r>
              <a:rPr lang="en"/>
              <a:t> - 288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Stride Steps - 300 Steps (25 hours) (limited by compute)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 Fourier Terms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RMSE: $94.00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Next Steps: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Hyperparameter Tuning</a:t>
            </a:r>
            <a:endParaRPr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2798" y="236623"/>
            <a:ext cx="4584000" cy="15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2800" y="2499686"/>
            <a:ext cx="4584002" cy="2536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Comparisons</a:t>
            </a:r>
            <a:r>
              <a:rPr lang="en"/>
              <a:t> of Real Time Prediction Models</a:t>
            </a:r>
            <a:endParaRPr/>
          </a:p>
        </p:txBody>
      </p:sp>
      <p:graphicFrame>
        <p:nvGraphicFramePr>
          <p:cNvPr id="148" name="Google Shape;148;p24"/>
          <p:cNvGraphicFramePr/>
          <p:nvPr/>
        </p:nvGraphicFramePr>
        <p:xfrm>
          <a:off x="952500" y="142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{933393D9-83B3-4002-A4B7-91534B6E77FC}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RMSE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Baseline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$62.02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Extra Trees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$44.83*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LSTM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$66.90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SARIMA 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$94.00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Progress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Simple RL Model → Single Schedule RL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Simple DQN Model → Single Schedule DQN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Debugging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arenR"/>
            </a:pPr>
            <a:r>
              <a:rPr lang="en"/>
              <a:t>Parameter Tuning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arenR"/>
            </a:pPr>
            <a:r>
              <a:rPr lang="en"/>
              <a:t>No matter how high I put </a:t>
            </a:r>
            <a:r>
              <a:rPr lang="en"/>
              <a:t>gamma (future reward weight) or how low I put epsilon (choosing the best choice), it keeps giving reward of roughly [-price, 0, price]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RL Workflow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4274" y="125938"/>
            <a:ext cx="3139725" cy="489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Battery Single Schedule DQN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Next Steps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4260300" cy="3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RL: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Dual Schedule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Artificial Data Creation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Partial charges and discharges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Training with the cluster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If this doesn’t solve the holding problem, more debugging and environment modification will be necessary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Optimization Algorithm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Linear Programming</a:t>
            </a:r>
            <a:endParaRPr/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4572000" y="1256475"/>
            <a:ext cx="4260300" cy="3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Time Predictions: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Hyperparameter Tuning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Consistent Model Evaluation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